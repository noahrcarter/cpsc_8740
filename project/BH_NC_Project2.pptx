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64" r:id="rId2"/>
    <p:sldId id="266" r:id="rId3"/>
    <p:sldId id="267" r:id="rId4"/>
    <p:sldId id="268" r:id="rId5"/>
    <p:sldId id="269" r:id="rId6"/>
    <p:sldId id="270" r:id="rId7"/>
    <p:sldId id="278" r:id="rId8"/>
    <p:sldId id="277" r:id="rId9"/>
    <p:sldId id="285" r:id="rId10"/>
    <p:sldId id="284" r:id="rId11"/>
    <p:sldId id="286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A"/>
    <a:srgbClr val="00205B"/>
    <a:srgbClr val="F66600"/>
    <a:srgbClr val="2E1A47"/>
    <a:srgbClr val="AD1AAC"/>
    <a:srgbClr val="B7BF10"/>
    <a:srgbClr val="F1C400"/>
    <a:srgbClr val="888B8D"/>
    <a:srgbClr val="C8C9C7"/>
    <a:srgbClr val="8C8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67"/>
    <p:restoredTop sz="96327"/>
  </p:normalViewPr>
  <p:slideViewPr>
    <p:cSldViewPr snapToGrid="0" snapToObjects="1">
      <p:cViewPr varScale="1">
        <p:scale>
          <a:sx n="111" d="100"/>
          <a:sy n="111" d="100"/>
        </p:scale>
        <p:origin x="88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21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aseline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 population living with overweight and obesity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children 5-14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Sheet1!$B$1:$H$1</c:f>
              <c:numCache>
                <c:formatCode>General</c:formatCode>
                <c:ptCount val="7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2021</c:v>
                </c:pt>
              </c:numCache>
            </c:numRef>
          </c:cat>
          <c:val>
            <c:numRef>
              <c:f>Sheet1!$B$2:$H$2</c:f>
              <c:numCache>
                <c:formatCode>General</c:formatCode>
                <c:ptCount val="7"/>
                <c:pt idx="0">
                  <c:v>25</c:v>
                </c:pt>
                <c:pt idx="1">
                  <c:v>28</c:v>
                </c:pt>
                <c:pt idx="2">
                  <c:v>30</c:v>
                </c:pt>
                <c:pt idx="3">
                  <c:v>32</c:v>
                </c:pt>
                <c:pt idx="4">
                  <c:v>34</c:v>
                </c:pt>
                <c:pt idx="5">
                  <c:v>36</c:v>
                </c:pt>
                <c:pt idx="6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8C-493B-82B3-CEC42101E96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adults 25+</c:v>
                </c:pt>
              </c:strCache>
            </c:strRef>
          </c:tx>
          <c:spPr>
            <a:ln w="28575" cap="rnd">
              <a:solidFill>
                <a:srgbClr val="F66600"/>
              </a:solidFill>
              <a:round/>
            </a:ln>
            <a:effectLst/>
          </c:spPr>
          <c:marker>
            <c:symbol val="none"/>
          </c:marker>
          <c:cat>
            <c:numRef>
              <c:f>Sheet1!$B$1:$H$1</c:f>
              <c:numCache>
                <c:formatCode>General</c:formatCode>
                <c:ptCount val="7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2021</c:v>
                </c:pt>
              </c:numCache>
            </c:numRef>
          </c:cat>
          <c:val>
            <c:numRef>
              <c:f>Sheet1!$B$3:$H$3</c:f>
              <c:numCache>
                <c:formatCode>General</c:formatCode>
                <c:ptCount val="7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67</c:v>
                </c:pt>
                <c:pt idx="4">
                  <c:v>68</c:v>
                </c:pt>
                <c:pt idx="5">
                  <c:v>70</c:v>
                </c:pt>
                <c:pt idx="6">
                  <c:v>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8C-493B-82B3-CEC42101E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0990928"/>
        <c:axId val="924519232"/>
      </c:lineChart>
      <c:catAx>
        <c:axId val="102099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4519232"/>
        <c:crosses val="autoZero"/>
        <c:auto val="1"/>
        <c:lblAlgn val="ctr"/>
        <c:lblOffset val="100"/>
        <c:noMultiLvlLbl val="0"/>
      </c:catAx>
      <c:valAx>
        <c:axId val="924519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percentage of population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0990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aseline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6B8552-AFC6-F240-8A5E-BD21D17C2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323B8-D602-634D-ADB7-05C04BC131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B1095-E8F9-C84F-81A1-3047AB2BC7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8CC9B-A72A-BD42-B98F-122FCBD584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65062-A54D-0340-AB08-E75EF91147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8921-A166-BF45-ACB1-3E68430C6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7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12D45-0F8E-6047-B03C-36BACA25037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931C-5A24-6648-91AC-4821D9781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4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2488" y="4267200"/>
            <a:ext cx="10961511" cy="1066800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rgbClr val="2E1A47"/>
                </a:solidFill>
                <a:latin typeface="+mj-lt"/>
                <a:ea typeface="Verdana" charset="0"/>
                <a:cs typeface="Verdana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subtitle or presenter details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11200" y="3124200"/>
            <a:ext cx="10972800" cy="1143000"/>
          </a:xfrm>
        </p:spPr>
        <p:txBody>
          <a:bodyPr anchor="b"/>
          <a:lstStyle>
            <a:lvl1pPr algn="l">
              <a:defRPr sz="3200" b="1" i="0" cap="all" baseline="0">
                <a:solidFill>
                  <a:srgbClr val="2E1A47"/>
                </a:solidFill>
                <a:latin typeface="+mj-lt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1CE1E1A-45EB-A642-A993-90947511DE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2598" y="1418813"/>
            <a:ext cx="6121399" cy="13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4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11575627" cy="609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573" y="1676400"/>
            <a:ext cx="11575627" cy="4876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A29D10A6-8DD1-B744-9065-1BAAFEFFE4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0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573" y="990600"/>
            <a:ext cx="11575627" cy="55626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8FAFD8D3-79DD-E14C-BCB8-B9F40CD9F5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9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200" b="1" cap="all">
                <a:solidFill>
                  <a:srgbClr val="2E1A4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2E1A47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17601" y="4406900"/>
            <a:ext cx="10208684" cy="0"/>
          </a:xfrm>
          <a:prstGeom prst="line">
            <a:avLst/>
          </a:prstGeom>
          <a:ln w="12700">
            <a:solidFill>
              <a:srgbClr val="522D8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B8FAF6D0-8B4E-734E-9264-BC36084B9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4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11582400" cy="685800"/>
          </a:xfrm>
        </p:spPr>
        <p:txBody>
          <a:bodyPr/>
          <a:lstStyle>
            <a:lvl1pPr>
              <a:defRPr sz="3200">
                <a:solidFill>
                  <a:srgbClr val="2E1A4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5689600" cy="4800600"/>
          </a:xfrm>
        </p:spPr>
        <p:txBody>
          <a:bodyPr/>
          <a:lstStyle>
            <a:lvl1pPr>
              <a:defRPr sz="2400">
                <a:solidFill>
                  <a:srgbClr val="2E1A47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689600" cy="4800600"/>
          </a:xfrm>
        </p:spPr>
        <p:txBody>
          <a:bodyPr/>
          <a:lstStyle>
            <a:lvl1pPr>
              <a:defRPr sz="2400">
                <a:solidFill>
                  <a:srgbClr val="2E1A47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4953C313-7F6E-F147-82E8-88E80AA46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7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11582400" cy="612648"/>
          </a:xfrm>
        </p:spPr>
        <p:txBody>
          <a:bodyPr/>
          <a:lstStyle>
            <a:lvl1pPr>
              <a:defRPr sz="3200">
                <a:solidFill>
                  <a:srgbClr val="2E1A4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573" y="1676400"/>
            <a:ext cx="5684944" cy="457200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2E1A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316162"/>
            <a:ext cx="5691717" cy="4242576"/>
          </a:xfrm>
        </p:spPr>
        <p:txBody>
          <a:bodyPr/>
          <a:lstStyle>
            <a:lvl1pPr>
              <a:defRPr sz="1800">
                <a:solidFill>
                  <a:srgbClr val="2E1A47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676400"/>
            <a:ext cx="5680287" cy="457200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2E1A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16162"/>
            <a:ext cx="5693833" cy="4237038"/>
          </a:xfrm>
        </p:spPr>
        <p:txBody>
          <a:bodyPr/>
          <a:lstStyle>
            <a:lvl1pPr>
              <a:defRPr sz="1800">
                <a:solidFill>
                  <a:srgbClr val="2E1A47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B9CBEC50-F6E2-D346-AD3B-D7AB2E858C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6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2971800"/>
            <a:ext cx="11582400" cy="685800"/>
          </a:xfrm>
        </p:spPr>
        <p:txBody>
          <a:bodyPr/>
          <a:lstStyle>
            <a:lvl1pPr>
              <a:defRPr sz="4400" b="1" cap="all" baseline="0">
                <a:solidFill>
                  <a:srgbClr val="2E1A47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4" name="Picture 3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AD823CC4-51A9-3E4D-9E27-79F5D51CA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0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BA80A8D1-BF7B-1E4C-9209-4805D65CDB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8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88157" y="990601"/>
            <a:ext cx="4200737" cy="729919"/>
          </a:xfrm>
        </p:spPr>
        <p:txBody>
          <a:bodyPr anchor="b"/>
          <a:lstStyle>
            <a:lvl1pPr algn="l">
              <a:defRPr sz="1400" b="1">
                <a:solidFill>
                  <a:srgbClr val="2E1A4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7120467" cy="5486400"/>
          </a:xfrm>
        </p:spPr>
        <p:txBody>
          <a:bodyPr/>
          <a:lstStyle>
            <a:lvl1pPr>
              <a:defRPr sz="2400">
                <a:solidFill>
                  <a:srgbClr val="2E1A47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4610" y="1828799"/>
            <a:ext cx="4214284" cy="4648201"/>
          </a:xfrm>
        </p:spPr>
        <p:txBody>
          <a:bodyPr/>
          <a:lstStyle>
            <a:lvl1pPr marL="0" indent="0">
              <a:buNone/>
              <a:defRPr sz="1100" i="1">
                <a:solidFill>
                  <a:srgbClr val="2E1A47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F36071E0-392A-5E42-871A-02AE561CB7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4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594098"/>
            <a:ext cx="11379200" cy="578103"/>
          </a:xfrm>
        </p:spPr>
        <p:txBody>
          <a:bodyPr anchor="b"/>
          <a:lstStyle>
            <a:lvl1pPr algn="l">
              <a:defRPr sz="1400" b="1">
                <a:solidFill>
                  <a:srgbClr val="2E1A47"/>
                </a:solidFill>
              </a:defRPr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0" y="990601"/>
            <a:ext cx="11379200" cy="4495799"/>
          </a:xfrm>
        </p:spPr>
        <p:txBody>
          <a:bodyPr/>
          <a:lstStyle>
            <a:lvl1pPr marL="0" indent="0">
              <a:buNone/>
              <a:defRPr sz="3200">
                <a:solidFill>
                  <a:srgbClr val="2E1A47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6400" y="6172200"/>
            <a:ext cx="11379200" cy="457200"/>
          </a:xfrm>
        </p:spPr>
        <p:txBody>
          <a:bodyPr/>
          <a:lstStyle>
            <a:lvl1pPr marL="0" indent="0">
              <a:buNone/>
              <a:defRPr sz="1100" i="1">
                <a:solidFill>
                  <a:srgbClr val="2E1A47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Photo credit</a:t>
            </a:r>
          </a:p>
        </p:txBody>
      </p:sp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5FED6EC6-9A9E-CD46-B74D-88FC06A195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0" y="990601"/>
            <a:ext cx="5588000" cy="4495799"/>
          </a:xfrm>
        </p:spPr>
        <p:txBody>
          <a:bodyPr/>
          <a:lstStyle>
            <a:lvl1pPr marL="0" indent="0">
              <a:buNone/>
              <a:defRPr sz="3200">
                <a:solidFill>
                  <a:srgbClr val="2E1A47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/>
          </p:nvPr>
        </p:nvSpPr>
        <p:spPr>
          <a:xfrm>
            <a:off x="6197600" y="990601"/>
            <a:ext cx="5588000" cy="4495799"/>
          </a:xfrm>
        </p:spPr>
        <p:txBody>
          <a:bodyPr/>
          <a:lstStyle>
            <a:lvl1pPr marL="0" indent="0">
              <a:buNone/>
              <a:defRPr sz="3200">
                <a:solidFill>
                  <a:srgbClr val="2E1A47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594097"/>
            <a:ext cx="5588000" cy="685848"/>
          </a:xfrm>
        </p:spPr>
        <p:txBody>
          <a:bodyPr anchor="b"/>
          <a:lstStyle>
            <a:lvl1pPr algn="l">
              <a:defRPr sz="1400" b="1">
                <a:solidFill>
                  <a:srgbClr val="2E1A47"/>
                </a:solidFill>
              </a:defRPr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6400" y="6279898"/>
            <a:ext cx="5588000" cy="349502"/>
          </a:xfrm>
        </p:spPr>
        <p:txBody>
          <a:bodyPr/>
          <a:lstStyle>
            <a:lvl1pPr marL="0" indent="0">
              <a:buNone/>
              <a:defRPr sz="1100" i="1">
                <a:solidFill>
                  <a:srgbClr val="2E1A47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Photo credit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197600" y="6279898"/>
            <a:ext cx="5588000" cy="349502"/>
          </a:xfrm>
        </p:spPr>
        <p:txBody>
          <a:bodyPr/>
          <a:lstStyle>
            <a:lvl1pPr marL="0" indent="0">
              <a:buNone/>
              <a:defRPr sz="1100" i="1">
                <a:solidFill>
                  <a:srgbClr val="2E1A47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Photo credit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197600" y="5594350"/>
            <a:ext cx="5588000" cy="685548"/>
          </a:xfrm>
        </p:spPr>
        <p:txBody>
          <a:bodyPr anchor="b"/>
          <a:lstStyle>
            <a:lvl1pPr>
              <a:defRPr sz="1400" b="1" baseline="0">
                <a:solidFill>
                  <a:srgbClr val="2E1A47"/>
                </a:solidFill>
              </a:defRPr>
            </a:lvl1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Caption</a:t>
            </a:r>
          </a:p>
        </p:txBody>
      </p:sp>
      <p:pic>
        <p:nvPicPr>
          <p:cNvPr id="9" name="Picture 8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FD1E0C8B-8999-FB4E-B386-87D0CC38B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1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CAF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715000" y="2057400"/>
            <a:ext cx="5948680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1300" spc="0" baseline="0" dirty="0">
                <a:solidFill>
                  <a:srgbClr val="2E1A47"/>
                </a:solidFill>
                <a:effectLst/>
                <a:latin typeface="+mj-lt"/>
              </a:rPr>
              <a:t>The College of Agriculture, Forestry and Life Sciences </a:t>
            </a:r>
            <a:r>
              <a:rPr lang="en-US" sz="2000" kern="1300" spc="0" baseline="0" dirty="0">
                <a:solidFill>
                  <a:srgbClr val="2E1A47"/>
                </a:solidFill>
                <a:effectLst/>
                <a:latin typeface="+mj-lt"/>
              </a:rPr>
              <a:t>is deeply rooted in Clemson University’s heritage as a land-grant institution, advancing founder Thomas Green Clemson’s vision of higher education that benefits South Carolina.</a:t>
            </a:r>
          </a:p>
        </p:txBody>
      </p:sp>
      <p:pic>
        <p:nvPicPr>
          <p:cNvPr id="7" name="Picture 6" descr="Image of a bee on a flower.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914400" y="1447800"/>
            <a:ext cx="4412840" cy="4648884"/>
          </a:xfrm>
          <a:prstGeom prst="rect">
            <a:avLst/>
          </a:prstGeom>
        </p:spPr>
      </p:pic>
      <p:pic>
        <p:nvPicPr>
          <p:cNvPr id="5" name="Picture 4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082CD7D1-4191-B84E-832A-B8B766A10C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87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Exten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10200" y="1828798"/>
            <a:ext cx="5715000" cy="280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1300" spc="0" baseline="0" dirty="0">
                <a:solidFill>
                  <a:srgbClr val="2E1A47"/>
                </a:solidFill>
                <a:effectLst/>
                <a:latin typeface="+mj-lt"/>
              </a:rPr>
              <a:t>Clemson Extension </a:t>
            </a:r>
            <a:r>
              <a:rPr lang="en-US" sz="2000" kern="1300" spc="0" baseline="0" dirty="0">
                <a:solidFill>
                  <a:srgbClr val="2E1A47"/>
                </a:solidFill>
                <a:effectLst/>
                <a:latin typeface="+mj-lt"/>
              </a:rPr>
              <a:t>helps improve the quality of life of all South Carolinians by providing unbiased, research-based information through an array of public outreach programs in youth development; agribusiness; agriculture; food, nutrition and health; and natural resources.</a:t>
            </a:r>
          </a:p>
        </p:txBody>
      </p:sp>
      <p:pic>
        <p:nvPicPr>
          <p:cNvPr id="7" name="Picture 6" descr="Group of students in a school garden.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371600"/>
            <a:ext cx="3962400" cy="4637187"/>
          </a:xfrm>
          <a:prstGeom prst="rect">
            <a:avLst/>
          </a:prstGeom>
        </p:spPr>
      </p:pic>
      <p:pic>
        <p:nvPicPr>
          <p:cNvPr id="5" name="Picture 4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1BFD0B26-0753-A44F-854C-FCAEB277E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4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P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3201" y="4016276"/>
            <a:ext cx="7950199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1300" spc="0" baseline="0" dirty="0">
                <a:solidFill>
                  <a:srgbClr val="2E1A47"/>
                </a:solidFill>
                <a:effectLst/>
                <a:latin typeface="+mj-lt"/>
              </a:rPr>
              <a:t>Clemson Public Service and Agriculture</a:t>
            </a: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kern="1300" spc="0" baseline="0" dirty="0">
                <a:solidFill>
                  <a:srgbClr val="2E1A47"/>
                </a:solidFill>
                <a:effectLst/>
                <a:latin typeface="+mj-lt"/>
              </a:rPr>
              <a:t>delivers impartial, science-based information</a:t>
            </a: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kern="1300" spc="0" baseline="0" dirty="0">
                <a:solidFill>
                  <a:srgbClr val="2E1A47"/>
                </a:solidFill>
                <a:effectLst/>
                <a:latin typeface="+mj-lt"/>
              </a:rPr>
              <a:t>through research, outreach and regulatory programs</a:t>
            </a: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kern="1300" spc="0" baseline="0" dirty="0">
                <a:solidFill>
                  <a:srgbClr val="2E1A47"/>
                </a:solidFill>
                <a:effectLst/>
                <a:latin typeface="+mj-lt"/>
              </a:rPr>
              <a:t>designed to improve the quality of life in South Carolina.</a:t>
            </a:r>
          </a:p>
        </p:txBody>
      </p:sp>
      <p:pic>
        <p:nvPicPr>
          <p:cNvPr id="2" name="Picture 1" descr="Map of South Carolina showing where Clemson Public Service and Agriculture units are located across the state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0" y="1051041"/>
            <a:ext cx="6931854" cy="5502159"/>
          </a:xfrm>
          <a:prstGeom prst="rect">
            <a:avLst/>
          </a:prstGeom>
        </p:spPr>
      </p:pic>
      <p:pic>
        <p:nvPicPr>
          <p:cNvPr id="6" name="Picture 5" descr="A picture containing sitting, drawing, pizza&#10;&#10;Description automatically generated">
            <a:extLst>
              <a:ext uri="{FF2B5EF4-FFF2-40B4-BE49-F238E27FC236}">
                <a16:creationId xmlns:a16="http://schemas.microsoft.com/office/drawing/2014/main" id="{C12339A6-2BB1-7A4E-9654-9786D7B21B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1685" y="53068"/>
            <a:ext cx="2728742" cy="5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295400"/>
            <a:ext cx="1158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2209801"/>
            <a:ext cx="1158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18268"/>
            <a:ext cx="12192000" cy="119932"/>
          </a:xfrm>
          <a:prstGeom prst="rect">
            <a:avLst/>
          </a:prstGeom>
          <a:solidFill>
            <a:srgbClr val="F5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EB7A9E-25CA-D24E-8FED-ACC43F8E20B1}"/>
              </a:ext>
            </a:extLst>
          </p:cNvPr>
          <p:cNvSpPr/>
          <p:nvPr userDrawn="1"/>
        </p:nvSpPr>
        <p:spPr>
          <a:xfrm>
            <a:off x="0" y="6705601"/>
            <a:ext cx="12192000" cy="179294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9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E1A47"/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2800">
          <a:solidFill>
            <a:srgbClr val="2E1A47"/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20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ho.int/news-room/fact-sheets/detail/obesity-and-overweigh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pm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jp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4E1AE0-13AA-A761-53C9-5B37FA99C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32366-C685-541A-66FE-F664C19EB73E}"/>
              </a:ext>
            </a:extLst>
          </p:cNvPr>
          <p:cNvSpPr txBox="1"/>
          <p:nvPr/>
        </p:nvSpPr>
        <p:spPr>
          <a:xfrm>
            <a:off x="9765101" y="148437"/>
            <a:ext cx="256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Ph.D. Qualifying Exam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18C8A2-044D-8DFD-4F80-D23142A06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4" y="772715"/>
            <a:ext cx="12119771" cy="3045821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Watch2Track: Smartwatch-Smartphone Monitoring of Daily Energy Intake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7BE48B-2DA1-54D1-6CD7-25F3B0DA4822}"/>
              </a:ext>
            </a:extLst>
          </p:cNvPr>
          <p:cNvSpPr txBox="1"/>
          <p:nvPr/>
        </p:nvSpPr>
        <p:spPr>
          <a:xfrm>
            <a:off x="4115163" y="2295625"/>
            <a:ext cx="396167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Brycen Havens &amp; Noah Carter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16EA2-9F25-4032-81D2-0DDECC3C73B0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95625-5674-EB9A-B843-342776555F18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4843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86AD-E142-A050-5966-C72C918B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9A539B-9D95-9A03-BAB7-A480C20A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FFEB3-178D-D467-843E-5B01002515D8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C915-72BB-F01A-84AB-1601BD4394AA}"/>
              </a:ext>
            </a:extLst>
          </p:cNvPr>
          <p:cNvSpPr txBox="1"/>
          <p:nvPr/>
        </p:nvSpPr>
        <p:spPr>
          <a:xfrm>
            <a:off x="111798" y="872653"/>
            <a:ext cx="3693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Real-World Relevance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7AB185B-E5DC-5706-F942-FF6F9CF27A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214990"/>
              </p:ext>
            </p:extLst>
          </p:nvPr>
        </p:nvGraphicFramePr>
        <p:xfrm>
          <a:off x="1656946" y="2355469"/>
          <a:ext cx="8878108" cy="403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8F70CC3-5F99-7251-132F-FD8250515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261" y="6395282"/>
            <a:ext cx="6579478" cy="30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sz="1200" dirty="0"/>
              <a:t>Marie N, et al. "National-level and state-level prevalence of overweight and obesity…" Lancet, 2024.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965B03-2A3D-77A7-C571-3638C7A59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96" y="1611861"/>
            <a:ext cx="111436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World prevalence: 2.5 billion adults (43%) are overweight, and 880 million adults (16%) are obese </a:t>
            </a:r>
            <a:r>
              <a:rPr lang="en-US" altLang="zh-CN" sz="2000" dirty="0"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2000" dirty="0"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WHO 2024</a:t>
            </a:r>
            <a:r>
              <a:rPr lang="en-US" altLang="zh-CN" sz="2000" dirty="0"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F64C0-0046-1D0D-167A-4E06D0D3279F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0846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B2B2-42C7-3D60-18FB-7B6B800E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30B53B-1F36-E62C-C7BC-C1443845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B8C435-76B8-D31B-2DA5-136F6817172B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918A6-FC58-ECDD-94C2-75913BDD129C}"/>
              </a:ext>
            </a:extLst>
          </p:cNvPr>
          <p:cNvSpPr txBox="1"/>
          <p:nvPr/>
        </p:nvSpPr>
        <p:spPr>
          <a:xfrm>
            <a:off x="111798" y="872653"/>
            <a:ext cx="6161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Modern Day Solutions and Limitations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8B3A2-6346-482B-7028-FD372051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95" y="1611861"/>
            <a:ext cx="6233477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Solution: GLP-1 Drugs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Pro: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Shown to be effective for weight loss </a:t>
            </a:r>
            <a:r>
              <a:rPr lang="en-US" altLang="zh-CN" sz="1400" dirty="0">
                <a:ea typeface="Calibri" panose="020F0502020204030204" pitchFamily="34" charset="0"/>
                <a:cs typeface="Calibri" panose="020F0502020204030204" pitchFamily="34" charset="0"/>
              </a:rPr>
              <a:t>[1]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ea typeface="Calibri" panose="020F0502020204030204" pitchFamily="34" charset="0"/>
                <a:cs typeface="Calibri" panose="020F0502020204030204" pitchFamily="34" charset="0"/>
              </a:rPr>
              <a:t>Con: </a:t>
            </a:r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eight regain is common after stopping GLP-1 </a:t>
            </a:r>
            <a:r>
              <a:rPr lang="en-US" sz="1400" dirty="0">
                <a:ea typeface="Calibri" panose="020F0502020204030204" pitchFamily="34" charset="0"/>
                <a:cs typeface="Calibri" panose="020F0502020204030204" pitchFamily="34" charset="0"/>
              </a:rPr>
              <a:t>[2]</a:t>
            </a:r>
          </a:p>
          <a:p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Solution: Self-monitoring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Pro: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Associated with successful weight loss/maintenance </a:t>
            </a:r>
            <a:r>
              <a:rPr lang="en-US" sz="1400" dirty="0">
                <a:ea typeface="Calibri" panose="020F0502020204030204" pitchFamily="34" charset="0"/>
                <a:cs typeface="Calibri" panose="020F0502020204030204" pitchFamily="34" charset="0"/>
              </a:rPr>
              <a:t>[3]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Con 1: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Difficult to maintain over long period of time, low compliance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Con 2: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Underestimation/underreporting bias </a:t>
            </a:r>
            <a:b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(dozens of studies show ranges from 10-50%) </a:t>
            </a:r>
          </a:p>
          <a:p>
            <a:pPr>
              <a:spcAft>
                <a:spcPts val="0"/>
              </a:spcAft>
            </a:pPr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3AC038-D4D8-FF55-E617-B12ADC9FC6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26" t="2443" r="12858" b="14865"/>
          <a:stretch/>
        </p:blipFill>
        <p:spPr>
          <a:xfrm>
            <a:off x="6415629" y="1492669"/>
            <a:ext cx="2690180" cy="1760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8EAE1-4CAD-1841-8E41-BC7C2ED64A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711" t="11252" r="6800" b="13358"/>
          <a:stretch/>
        </p:blipFill>
        <p:spPr>
          <a:xfrm>
            <a:off x="9105809" y="1492668"/>
            <a:ext cx="2993437" cy="1760845"/>
          </a:xfrm>
          <a:prstGeom prst="rect">
            <a:avLst/>
          </a:prstGeom>
        </p:spPr>
      </p:pic>
      <p:pic>
        <p:nvPicPr>
          <p:cNvPr id="11" name="Picture 11" descr="woman_reading_food_label.jpg">
            <a:extLst>
              <a:ext uri="{FF2B5EF4-FFF2-40B4-BE49-F238E27FC236}">
                <a16:creationId xmlns:a16="http://schemas.microsoft.com/office/drawing/2014/main" id="{C6720B77-AAB6-68FE-0692-1F6AD28BE64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16473" y="3556484"/>
            <a:ext cx="1485729" cy="2231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food-diary.jpg">
            <a:extLst>
              <a:ext uri="{FF2B5EF4-FFF2-40B4-BE49-F238E27FC236}">
                <a16:creationId xmlns:a16="http://schemas.microsoft.com/office/drawing/2014/main" id="{5CD4F7BB-2AA0-70F5-CEAC-FA61CF10CAE7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 b="4987"/>
          <a:stretch>
            <a:fillRect/>
          </a:stretch>
        </p:blipFill>
        <p:spPr bwMode="auto">
          <a:xfrm>
            <a:off x="8387066" y="3988828"/>
            <a:ext cx="2089626" cy="1798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 descr="http://3.bp.blogspot.com/-MX_5-0WxH7U/UTYe-i3u87I/AAAAAAAAAeM/VjjrgC_nKqc/s1600/iOS5_device_home.png">
            <a:extLst>
              <a:ext uri="{FF2B5EF4-FFF2-40B4-BE49-F238E27FC236}">
                <a16:creationId xmlns:a16="http://schemas.microsoft.com/office/drawing/2014/main" id="{4E88205B-4246-8356-9CDB-531BECC8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482" y="3746641"/>
            <a:ext cx="1180945" cy="228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279E81-3DC1-596C-8CDE-3A18EDD40AF2}"/>
              </a:ext>
            </a:extLst>
          </p:cNvPr>
          <p:cNvSpPr txBox="1"/>
          <p:nvPr/>
        </p:nvSpPr>
        <p:spPr>
          <a:xfrm>
            <a:off x="1414734" y="62752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CFE60-C6F0-34A1-2CC4-5687960D956E}"/>
              </a:ext>
            </a:extLst>
          </p:cNvPr>
          <p:cNvSpPr txBox="1"/>
          <p:nvPr/>
        </p:nvSpPr>
        <p:spPr>
          <a:xfrm>
            <a:off x="1318089" y="6090588"/>
            <a:ext cx="9555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</a:rPr>
              <a:t>[1] </a:t>
            </a:r>
            <a:r>
              <a:rPr lang="en-US" altLang="zh-CN" sz="1200" dirty="0"/>
              <a:t>Moiz A, </a:t>
            </a:r>
            <a:r>
              <a:rPr lang="en-US" altLang="zh-CN" sz="1200" i="1" dirty="0"/>
              <a:t>et al</a:t>
            </a:r>
            <a:r>
              <a:rPr lang="en-US" altLang="zh-CN" sz="1200" dirty="0"/>
              <a:t>. "The expanding role of GLP-1 receptor agonists: a narrative review …“, Lancet 2025.</a:t>
            </a:r>
          </a:p>
          <a:p>
            <a:r>
              <a:rPr lang="en-US" altLang="zh-CN" sz="1200" dirty="0">
                <a:solidFill>
                  <a:prstClr val="black"/>
                </a:solidFill>
              </a:rPr>
              <a:t>[2] </a:t>
            </a:r>
            <a:r>
              <a:rPr lang="en-US" altLang="zh-CN" sz="1200" dirty="0"/>
              <a:t>Wilding J, </a:t>
            </a:r>
            <a:r>
              <a:rPr lang="en-US" altLang="zh-CN" sz="1200" i="1" dirty="0"/>
              <a:t>et al</a:t>
            </a:r>
            <a:r>
              <a:rPr lang="en-US" altLang="zh-CN" sz="1200" dirty="0"/>
              <a:t>. "Weight regain and cardiometabolic effects after withdrawal of semaglutide" Diabetes, Obesity and Metabolism 2022.</a:t>
            </a:r>
          </a:p>
          <a:p>
            <a:r>
              <a:rPr lang="en-US" altLang="zh-CN" sz="1200" dirty="0">
                <a:solidFill>
                  <a:prstClr val="black"/>
                </a:solidFill>
              </a:rPr>
              <a:t>[3] Paixão, Catarina, </a:t>
            </a:r>
            <a:r>
              <a:rPr lang="en-US" altLang="zh-CN" sz="1200" i="1" dirty="0">
                <a:solidFill>
                  <a:prstClr val="black"/>
                </a:solidFill>
              </a:rPr>
              <a:t>et al</a:t>
            </a:r>
            <a:r>
              <a:rPr lang="en-US" altLang="zh-CN" sz="1200" dirty="0">
                <a:solidFill>
                  <a:prstClr val="black"/>
                </a:solidFill>
              </a:rPr>
              <a:t>. "Successful weight loss maintenance: a systematic review of weight control registries." Obesity Reviews vol. 21 no. 5, 2020.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99E28-7453-F117-CE3E-CE2200A4A6CB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6286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5654-A47D-1E97-B8A4-F132914A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D7B992-9730-B5BD-D689-6EB25E18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295003-8BB8-41EC-0B67-612105DCE050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1AE71-36CD-E821-045A-34D18FC2B332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Solution to Self-monitoring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2EF2B-9735-3D4D-C5FC-EF759A46C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96" y="2249424"/>
            <a:ext cx="5832204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Watch2Track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Smartwatch-Smartphone application available on Apple and Android devices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Automates detection and estimation of meal calories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Designed to reduce burden and support long-term compliance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Sensor-based EI estimation to reduce underreporting bias found in self-monitoring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7F75B9-2161-4D2D-4906-A000A7CC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50" y="1890818"/>
            <a:ext cx="2668709" cy="40030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7778F1-D205-DEC9-8956-4549E2135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271" y="2697924"/>
            <a:ext cx="2458218" cy="2458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687FC-9178-CD36-0FD8-74735E4A85B3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899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5623-7444-47E7-0E63-46FD2997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1204E2-0406-8D6B-23E8-CD2CCAE2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3B0C9-A399-AEFF-4F3B-04559FC9B794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5962F-6C9F-73D9-8346-858AA772F436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Daily User Experience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0E603-08F4-824C-5CBF-9830BB416496}"/>
              </a:ext>
            </a:extLst>
          </p:cNvPr>
          <p:cNvSpPr txBox="1"/>
          <p:nvPr/>
        </p:nvSpPr>
        <p:spPr>
          <a:xfrm>
            <a:off x="1511143" y="1544324"/>
            <a:ext cx="1523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Put on watch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5D9831-AE42-86EB-0DD0-BB252C484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86"/>
          <a:stretch>
            <a:fillRect/>
          </a:stretch>
        </p:blipFill>
        <p:spPr>
          <a:xfrm>
            <a:off x="1469048" y="1944434"/>
            <a:ext cx="1607365" cy="19325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E667C1-B905-E3D1-EBBD-429B2F74E7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53" b="6939"/>
          <a:stretch>
            <a:fillRect/>
          </a:stretch>
        </p:blipFill>
        <p:spPr>
          <a:xfrm>
            <a:off x="4536363" y="2236686"/>
            <a:ext cx="2081749" cy="164033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5A5572-12CA-7884-7855-4F995B5D7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062" y="2049212"/>
            <a:ext cx="1795817" cy="18278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820CD0-064F-0483-9DB8-8844FA9F9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57" y="4746682"/>
            <a:ext cx="1789474" cy="17894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8B0E164-F9AC-0151-DA72-8BEE0CC7C8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546" y="4536573"/>
            <a:ext cx="1949593" cy="19995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75B5DB7-40E1-93AF-EE61-BA91DC0045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751" y="4513719"/>
            <a:ext cx="2022437" cy="202243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C095AA8-BFB4-9392-5D84-C86914C7795A}"/>
              </a:ext>
            </a:extLst>
          </p:cNvPr>
          <p:cNvSpPr txBox="1"/>
          <p:nvPr/>
        </p:nvSpPr>
        <p:spPr>
          <a:xfrm>
            <a:off x="4677792" y="1542550"/>
            <a:ext cx="1798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Start Recording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5AD7FE-94C9-EC08-566B-905826AC3BE2}"/>
              </a:ext>
            </a:extLst>
          </p:cNvPr>
          <p:cNvSpPr txBox="1"/>
          <p:nvPr/>
        </p:nvSpPr>
        <p:spPr>
          <a:xfrm>
            <a:off x="8120157" y="1390436"/>
            <a:ext cx="1712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Meal Detected / Start Meal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74682F-4B84-457F-CAB2-360B193DA394}"/>
              </a:ext>
            </a:extLst>
          </p:cNvPr>
          <p:cNvSpPr txBox="1"/>
          <p:nvPr/>
        </p:nvSpPr>
        <p:spPr>
          <a:xfrm>
            <a:off x="1714724" y="4094903"/>
            <a:ext cx="1116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Eat Meal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27047A-4232-0E6F-23B8-357C674F57B9}"/>
              </a:ext>
            </a:extLst>
          </p:cNvPr>
          <p:cNvSpPr txBox="1"/>
          <p:nvPr/>
        </p:nvSpPr>
        <p:spPr>
          <a:xfrm>
            <a:off x="4399789" y="3941015"/>
            <a:ext cx="235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End of meal detected / End meal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3DB0A9-218E-F119-EE98-5DFA02562876}"/>
              </a:ext>
            </a:extLst>
          </p:cNvPr>
          <p:cNvSpPr txBox="1"/>
          <p:nvPr/>
        </p:nvSpPr>
        <p:spPr>
          <a:xfrm>
            <a:off x="8261671" y="4094903"/>
            <a:ext cx="1428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Adjust meal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15608AC-5551-888E-AA8A-9AFD1A0411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5256" y="4246558"/>
            <a:ext cx="1201997" cy="2289598"/>
          </a:xfrm>
          <a:prstGeom prst="rect">
            <a:avLst/>
          </a:prstGeom>
        </p:spPr>
      </p:pic>
      <p:sp>
        <p:nvSpPr>
          <p:cNvPr id="42" name="Right Arrow 1">
            <a:extLst>
              <a:ext uri="{FF2B5EF4-FFF2-40B4-BE49-F238E27FC236}">
                <a16:creationId xmlns:a16="http://schemas.microsoft.com/office/drawing/2014/main" id="{747305C1-FBE0-8BD3-4F0A-29C4472455A7}"/>
              </a:ext>
            </a:extLst>
          </p:cNvPr>
          <p:cNvSpPr/>
          <p:nvPr/>
        </p:nvSpPr>
        <p:spPr>
          <a:xfrm>
            <a:off x="3529324" y="2821863"/>
            <a:ext cx="554128" cy="2825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1">
            <a:extLst>
              <a:ext uri="{FF2B5EF4-FFF2-40B4-BE49-F238E27FC236}">
                <a16:creationId xmlns:a16="http://schemas.microsoft.com/office/drawing/2014/main" id="{D8C6DAB5-ABB4-49A3-E209-202AC66DD367}"/>
              </a:ext>
            </a:extLst>
          </p:cNvPr>
          <p:cNvSpPr/>
          <p:nvPr/>
        </p:nvSpPr>
        <p:spPr>
          <a:xfrm>
            <a:off x="7071023" y="2821862"/>
            <a:ext cx="554128" cy="2825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1">
            <a:extLst>
              <a:ext uri="{FF2B5EF4-FFF2-40B4-BE49-F238E27FC236}">
                <a16:creationId xmlns:a16="http://schemas.microsoft.com/office/drawing/2014/main" id="{52A51F5E-C793-CAB0-DF5E-171106055B69}"/>
              </a:ext>
            </a:extLst>
          </p:cNvPr>
          <p:cNvSpPr/>
          <p:nvPr/>
        </p:nvSpPr>
        <p:spPr>
          <a:xfrm>
            <a:off x="3529324" y="5500168"/>
            <a:ext cx="554128" cy="2825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1">
            <a:extLst>
              <a:ext uri="{FF2B5EF4-FFF2-40B4-BE49-F238E27FC236}">
                <a16:creationId xmlns:a16="http://schemas.microsoft.com/office/drawing/2014/main" id="{CED71F02-4DB5-9AC4-E0B7-44F80EE50005}"/>
              </a:ext>
            </a:extLst>
          </p:cNvPr>
          <p:cNvSpPr/>
          <p:nvPr/>
        </p:nvSpPr>
        <p:spPr>
          <a:xfrm>
            <a:off x="7071023" y="5500167"/>
            <a:ext cx="554128" cy="2825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1">
            <a:extLst>
              <a:ext uri="{FF2B5EF4-FFF2-40B4-BE49-F238E27FC236}">
                <a16:creationId xmlns:a16="http://schemas.microsoft.com/office/drawing/2014/main" id="{1D429898-CF89-A890-7E64-F0DC9EA77BF0}"/>
              </a:ext>
            </a:extLst>
          </p:cNvPr>
          <p:cNvSpPr/>
          <p:nvPr/>
        </p:nvSpPr>
        <p:spPr>
          <a:xfrm>
            <a:off x="10319190" y="2820096"/>
            <a:ext cx="554128" cy="2825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B82E4-FD62-3EB7-9CB4-7200309514C1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29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FB6C-9851-7F49-EF03-47FC7B08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B682D3-4696-6723-DF33-E000740D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8F055D-6F39-5C6B-B096-AC46BA7FD7DA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5BB0B-C63D-280A-26CC-67FA913EA989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Watch2Track Core Components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0BD014-EDA9-4E9C-CCC9-17D3ECFE2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911" y="872653"/>
            <a:ext cx="2469041" cy="20157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B4AEBC-2CA6-7245-5C78-07A6F30A8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96" y="1611861"/>
            <a:ext cx="5832204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IMU data acquisition from smartwatch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Accelerometer (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Gyroscope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,g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i="1" dirty="0">
                <a:ea typeface="Calibri" panose="020F0502020204030204" pitchFamily="34" charset="0"/>
                <a:cs typeface="Calibri" panose="020F0502020204030204" pitchFamily="34" charset="0"/>
              </a:rPr>
              <a:t>,g</a:t>
            </a:r>
            <a:r>
              <a:rPr lang="en-US" i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i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i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i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Eating detection model </a:t>
            </a:r>
            <a:r>
              <a:rPr lang="en-US" sz="14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[4]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Detects when eating is occurring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Inferenced in real time on smartwatch</a:t>
            </a:r>
          </a:p>
          <a:p>
            <a:endParaRPr lang="en-US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Bite detection model </a:t>
            </a:r>
            <a:r>
              <a:rPr lang="en-US" sz="14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[5]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Detects number of intake gestures (bites)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Inferenced post-meal on smartphone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A2E8D-EF5D-E272-FE64-E88AA42FDCE3}"/>
              </a:ext>
            </a:extLst>
          </p:cNvPr>
          <p:cNvSpPr/>
          <p:nvPr/>
        </p:nvSpPr>
        <p:spPr>
          <a:xfrm>
            <a:off x="6387861" y="3562067"/>
            <a:ext cx="2799999" cy="811406"/>
          </a:xfrm>
          <a:prstGeom prst="rect">
            <a:avLst/>
          </a:prstGeom>
          <a:solidFill>
            <a:srgbClr val="0033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Eating Detection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AAEC9-1569-A9DF-4322-D612341912BB}"/>
              </a:ext>
            </a:extLst>
          </p:cNvPr>
          <p:cNvSpPr/>
          <p:nvPr/>
        </p:nvSpPr>
        <p:spPr>
          <a:xfrm>
            <a:off x="6377554" y="5070011"/>
            <a:ext cx="2799999" cy="811406"/>
          </a:xfrm>
          <a:prstGeom prst="rect">
            <a:avLst/>
          </a:prstGeom>
          <a:solidFill>
            <a:srgbClr val="0033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Bite Detection Model</a:t>
            </a:r>
          </a:p>
        </p:txBody>
      </p:sp>
      <p:sp>
        <p:nvSpPr>
          <p:cNvPr id="14" name="Right Arrow 6">
            <a:extLst>
              <a:ext uri="{FF2B5EF4-FFF2-40B4-BE49-F238E27FC236}">
                <a16:creationId xmlns:a16="http://schemas.microsoft.com/office/drawing/2014/main" id="{57F60165-A281-613C-521C-9F4B50DCF153}"/>
              </a:ext>
            </a:extLst>
          </p:cNvPr>
          <p:cNvSpPr/>
          <p:nvPr/>
        </p:nvSpPr>
        <p:spPr>
          <a:xfrm rot="5400000">
            <a:off x="7597659" y="4613014"/>
            <a:ext cx="380404" cy="2174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6">
            <a:extLst>
              <a:ext uri="{FF2B5EF4-FFF2-40B4-BE49-F238E27FC236}">
                <a16:creationId xmlns:a16="http://schemas.microsoft.com/office/drawing/2014/main" id="{45F6DE5A-A650-5E47-6544-41802E9EC1CD}"/>
              </a:ext>
            </a:extLst>
          </p:cNvPr>
          <p:cNvSpPr/>
          <p:nvPr/>
        </p:nvSpPr>
        <p:spPr>
          <a:xfrm rot="5400000">
            <a:off x="7597659" y="3116493"/>
            <a:ext cx="380404" cy="2174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160BA-C9DD-0E93-82A0-69C380B09787}"/>
              </a:ext>
            </a:extLst>
          </p:cNvPr>
          <p:cNvSpPr txBox="1"/>
          <p:nvPr/>
        </p:nvSpPr>
        <p:spPr>
          <a:xfrm>
            <a:off x="9268197" y="3750634"/>
            <a:ext cx="261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 meal start/end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4514F-3DC5-F5B1-B523-16F1B7B9ECCD}"/>
              </a:ext>
            </a:extLst>
          </p:cNvPr>
          <p:cNvSpPr txBox="1"/>
          <p:nvPr/>
        </p:nvSpPr>
        <p:spPr>
          <a:xfrm>
            <a:off x="9268197" y="5259575"/>
            <a:ext cx="319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 bites within meal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B7DE3-5294-D0EE-0939-64B66005CB0C}"/>
              </a:ext>
            </a:extLst>
          </p:cNvPr>
          <p:cNvSpPr txBox="1"/>
          <p:nvPr/>
        </p:nvSpPr>
        <p:spPr>
          <a:xfrm>
            <a:off x="9268197" y="1759284"/>
            <a:ext cx="261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Acquire IMU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3CDBDA-DDBE-886B-371A-C7485BAB568F}"/>
              </a:ext>
            </a:extLst>
          </p:cNvPr>
          <p:cNvSpPr txBox="1"/>
          <p:nvPr/>
        </p:nvSpPr>
        <p:spPr>
          <a:xfrm>
            <a:off x="771325" y="6262311"/>
            <a:ext cx="106493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[4] Sharma </a:t>
            </a:r>
            <a:r>
              <a:rPr lang="en-US" sz="1200" i="1" dirty="0"/>
              <a:t>et al</a:t>
            </a:r>
            <a:r>
              <a:rPr lang="en-US" sz="1200" dirty="0"/>
              <a:t>. Top-down detection of eating episodes by analyzing large windows of wrist motion using a convolutional neural network. Bioengineering, 9(2):70, 2022.</a:t>
            </a:r>
          </a:p>
          <a:p>
            <a:r>
              <a:rPr lang="en-US" sz="1200" dirty="0"/>
              <a:t>[5] James Jolly </a:t>
            </a:r>
            <a:r>
              <a:rPr lang="en-US" sz="1200" i="1" dirty="0"/>
              <a:t>et al</a:t>
            </a:r>
            <a:r>
              <a:rPr lang="en-US" sz="1200" dirty="0"/>
              <a:t>. TallyNet: Detecting intake gestures as a variable count of events during a window of time. Unpublished manuscript, submitted for publication.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0213F-60F1-6BBC-4549-B1047423CB73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18891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A02B-58C4-AB19-B751-A24F8A8E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BD28F6-40CA-CDB7-44AB-D30B4794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0D4823-A172-0001-F4F3-719B59FB00CB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EE99F-AACD-DAD6-DCCD-B67AFADF51E7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Watch App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45787-A5BA-811C-C986-E2B90757F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9" y="1702279"/>
            <a:ext cx="6755634" cy="4503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EE5E0-9DD5-37DB-BE32-418607469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154" y="2067957"/>
            <a:ext cx="4573273" cy="3772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365504-E6A3-C2E6-7451-E10C07435021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532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71B1-BF3A-30DD-E213-42814BDA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AD65C-FE90-9EFF-5EC9-B17AED31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9F111-52F8-A31F-BAD6-87CEC0005E2C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FD2DA-8F90-9F90-0808-9177BEF2C34C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Meal Refinement: KPB Bar</a:t>
            </a:r>
          </a:p>
        </p:txBody>
      </p:sp>
      <p:pic>
        <p:nvPicPr>
          <p:cNvPr id="16" name="ScreenRecording_04-05-2026 20-08-22_1">
            <a:hlinkClick r:id="" action="ppaction://media"/>
            <a:extLst>
              <a:ext uri="{FF2B5EF4-FFF2-40B4-BE49-F238E27FC236}">
                <a16:creationId xmlns:a16="http://schemas.microsoft.com/office/drawing/2014/main" id="{0594FD67-70F6-8A9B-B87D-381D6B23E2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1668" y="1619427"/>
            <a:ext cx="2177604" cy="47296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25044F-0599-3851-CDF5-155C7434E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29" y="4354794"/>
            <a:ext cx="1503347" cy="15033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74CF47-ED60-7D5D-F2CD-B3809A1704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01" r="15933"/>
          <a:stretch>
            <a:fillRect/>
          </a:stretch>
        </p:blipFill>
        <p:spPr>
          <a:xfrm>
            <a:off x="4428764" y="4516687"/>
            <a:ext cx="1876025" cy="13414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00214D-489E-EEDC-ACA2-A615DB269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6615" y="1963003"/>
            <a:ext cx="5136900" cy="37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4A8ED9-3E8E-B2A4-7838-5C8D8A382D4F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31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1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17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xit" presetSubtype="32" fill="hold" nodeType="withEffect">
                                  <p:stCondLst>
                                    <p:cond delay="2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2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71B1-BF3A-30DD-E213-42814BDA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AD65C-FE90-9EFF-5EC9-B17AED31B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9F111-52F8-A31F-BAD6-87CEC0005E2C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FD2DA-8F90-9F90-0808-9177BEF2C34C}"/>
              </a:ext>
            </a:extLst>
          </p:cNvPr>
          <p:cNvSpPr txBox="1"/>
          <p:nvPr/>
        </p:nvSpPr>
        <p:spPr>
          <a:xfrm>
            <a:off x="111798" y="872653"/>
            <a:ext cx="707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Meal Refinement: KPB IR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A8ED9-3E8E-B2A4-7838-5C8D8A382D4F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A76D0-2C0D-EAF0-1260-10A2FE71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81" y="1503595"/>
            <a:ext cx="2255227" cy="5011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0D1D8-7053-3D80-1F85-D56795181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442" y="1503595"/>
            <a:ext cx="2255227" cy="501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0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EE23-ED9C-E1AB-47EA-337CCA64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D299A-21A5-832E-189B-53498AA5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D51F1F-E203-A234-EA0B-EF0B3722FB96}"/>
              </a:ext>
            </a:extLst>
          </p:cNvPr>
          <p:cNvSpPr txBox="1"/>
          <p:nvPr/>
        </p:nvSpPr>
        <p:spPr>
          <a:xfrm>
            <a:off x="5292969" y="764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028E3-E87E-BB67-1E58-1C947BDF8B5F}"/>
              </a:ext>
            </a:extLst>
          </p:cNvPr>
          <p:cNvSpPr txBox="1"/>
          <p:nvPr/>
        </p:nvSpPr>
        <p:spPr>
          <a:xfrm>
            <a:off x="5241693" y="1244827"/>
            <a:ext cx="170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6FA98-AB52-5C51-1DC5-BC4174A7AA2B}"/>
              </a:ext>
            </a:extLst>
          </p:cNvPr>
          <p:cNvSpPr txBox="1"/>
          <p:nvPr/>
        </p:nvSpPr>
        <p:spPr>
          <a:xfrm>
            <a:off x="11808258" y="6316150"/>
            <a:ext cx="6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66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2467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89F3-ACEB-8B17-8AC8-B639A463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Detection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456ACD-A4BF-1392-6912-474C2943A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351" y="4622146"/>
            <a:ext cx="8850523" cy="1407462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32AB765-C5BA-95DA-EDAF-7DFA9CD2E7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40" y="1868424"/>
            <a:ext cx="503039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split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75,750 train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25,250 test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224×224 RGB</a:t>
            </a:r>
          </a:p>
          <a:p>
            <a:pPr marL="285750" lvl="0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Output spec 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1 of 101 classes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hangingPunct="0"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</a:rPr>
              <a:t>	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F02901-5E93-929B-A2AE-46A2DFAE1B10}"/>
              </a:ext>
            </a:extLst>
          </p:cNvPr>
          <p:cNvSpPr txBox="1"/>
          <p:nvPr/>
        </p:nvSpPr>
        <p:spPr>
          <a:xfrm>
            <a:off x="5960035" y="2031034"/>
            <a:ext cx="609750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Training Config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 epochs Max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j-lt"/>
              </a:rPr>
              <a:t>Batch size 32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j-lt"/>
              </a:rPr>
              <a:t>Adam LR 0.003</a:t>
            </a:r>
          </a:p>
          <a:p>
            <a:pPr marL="742950" lvl="1" indent="-285750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+mj-lt"/>
              </a:rPr>
              <a:t>StepLR</a:t>
            </a:r>
            <a:r>
              <a:rPr lang="en-US" altLang="en-US" sz="1800" dirty="0">
                <a:latin typeface="+mj-lt"/>
              </a:rPr>
              <a:t> ÷ 2 every 5 epochs</a:t>
            </a:r>
            <a:endParaRPr lang="en-US" altLang="en-US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8F88C-6C01-91B9-0A17-6FC6C7B4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0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8918-FE01-E9CF-C7F5-08AF24B5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14400"/>
            <a:ext cx="11575627" cy="6096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General Model Accuracies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F994F2-41ED-6961-24C9-6E25F3399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326" y="1676400"/>
            <a:ext cx="7962121" cy="487680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36958B-7ABF-DE31-9596-C5FED85A0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11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8918-FE01-E9CF-C7F5-08AF24B5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14400"/>
            <a:ext cx="11575627" cy="6096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Per-class Performance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F994F2-41ED-6961-24C9-6E25F3399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326" y="1676400"/>
            <a:ext cx="7962121" cy="487680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6B5D40-0FAD-8CDF-0518-A29235B96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72" y="1676400"/>
            <a:ext cx="8787028" cy="487680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B91868-3874-9284-9C1F-2F7C03978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021" y="80555"/>
            <a:ext cx="2012406" cy="5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8031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oTPresentaion" id="{BEC8CCDB-4120-DF45-933D-7B0700FDF461}" vid="{9CA8A4EE-7398-8B4F-A96C-35FEA9924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1957</TotalTime>
  <Words>514</Words>
  <Application>Microsoft Office PowerPoint</Application>
  <PresentationFormat>Widescreen</PresentationFormat>
  <Paragraphs>95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Food Detection Model</vt:lpstr>
      <vt:lpstr>General Model Accuracies</vt:lpstr>
      <vt:lpstr>Per-class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Brycen Havens</dc:creator>
  <cp:lastModifiedBy>Noah Reagan Carter</cp:lastModifiedBy>
  <cp:revision>161</cp:revision>
  <dcterms:created xsi:type="dcterms:W3CDTF">2025-04-20T14:13:33Z</dcterms:created>
  <dcterms:modified xsi:type="dcterms:W3CDTF">2026-04-14T01:14:46Z</dcterms:modified>
</cp:coreProperties>
</file>